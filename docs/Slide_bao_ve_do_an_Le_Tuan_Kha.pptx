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7" r:id="rId2"/>
    <p:sldId id="274" r:id="rId3"/>
    <p:sldId id="258" r:id="rId4"/>
    <p:sldId id="259" r:id="rId5"/>
    <p:sldId id="261" r:id="rId6"/>
    <p:sldId id="263" r:id="rId7"/>
    <p:sldId id="275" r:id="rId8"/>
    <p:sldId id="266" r:id="rId9"/>
    <p:sldId id="268" r:id="rId10"/>
    <p:sldId id="269" r:id="rId11"/>
    <p:sldId id="270" r:id="rId12"/>
    <p:sldId id="271" r:id="rId13"/>
    <p:sldId id="272" r:id="rId14"/>
    <p:sldId id="273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93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6675" y="2404534"/>
            <a:ext cx="7764913" cy="1646302"/>
          </a:xfrm>
        </p:spPr>
        <p:txBody>
          <a:bodyPr anchor="b">
            <a:noAutofit/>
          </a:bodyPr>
          <a:lstStyle>
            <a:lvl1pPr algn="r">
              <a:defRPr sz="5398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6675" y="4050834"/>
            <a:ext cx="7764913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957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291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2700868"/>
            <a:ext cx="8594429" cy="1826581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860400"/>
          </a:xfrm>
        </p:spPr>
        <p:txBody>
          <a:bodyPr anchor="t"/>
          <a:lstStyle>
            <a:lvl1pPr marL="0" indent="0" algn="l">
              <a:buNone/>
              <a:defRPr sz="19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125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158" y="2160589"/>
            <a:ext cx="418294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8645" y="2160590"/>
            <a:ext cx="418294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164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570" y="2160983"/>
            <a:ext cx="418453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570" y="2737246"/>
            <a:ext cx="418453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7058" y="2160983"/>
            <a:ext cx="4184528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7059" y="2737246"/>
            <a:ext cx="418452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366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378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746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1498604"/>
            <a:ext cx="3853524" cy="1278466"/>
          </a:xfrm>
        </p:spPr>
        <p:txBody>
          <a:bodyPr anchor="b">
            <a:normAutofit/>
          </a:bodyPr>
          <a:lstStyle>
            <a:lvl1pPr>
              <a:defRPr sz="1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9222" y="514925"/>
            <a:ext cx="4512366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2777069"/>
            <a:ext cx="3853524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8" indent="0">
              <a:buNone/>
              <a:defRPr sz="1000"/>
            </a:lvl4pPr>
            <a:lvl5pPr marL="1827703" indent="0">
              <a:buNone/>
              <a:defRPr sz="1000"/>
            </a:lvl5pPr>
            <a:lvl6pPr marL="2284628" indent="0">
              <a:buNone/>
              <a:defRPr sz="1000"/>
            </a:lvl6pPr>
            <a:lvl7pPr marL="2741554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843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4800600"/>
            <a:ext cx="8594428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158" y="609600"/>
            <a:ext cx="8594429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5367338"/>
            <a:ext cx="8594428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405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609600"/>
            <a:ext cx="8594429" cy="3403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629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5783" y="3632200"/>
            <a:ext cx="7222643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75470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1931988"/>
            <a:ext cx="8594429" cy="2595460"/>
          </a:xfrm>
        </p:spPr>
        <p:txBody>
          <a:bodyPr anchor="b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4166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56404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1" y="609600"/>
            <a:ext cx="858596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7572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5666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5599" y="609600"/>
            <a:ext cx="130440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159" y="609600"/>
            <a:ext cx="7058311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621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8" y="2160590"/>
            <a:ext cx="8594429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3257" y="6041363"/>
            <a:ext cx="9117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158" y="6041363"/>
            <a:ext cx="6295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8426" y="6041363"/>
            <a:ext cx="68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968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063" rtl="0" eaLnBrk="1" latinLnBrk="0" hangingPunct="1">
        <a:spcBef>
          <a:spcPct val="0"/>
        </a:spcBef>
        <a:buNone/>
        <a:defRPr sz="3599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4E3578CA-33F6-4976-91EF-721EDE270BC6}"/>
              </a:ext>
            </a:extLst>
          </p:cNvPr>
          <p:cNvSpPr txBox="1"/>
          <p:nvPr/>
        </p:nvSpPr>
        <p:spPr>
          <a:xfrm>
            <a:off x="745763" y="2017280"/>
            <a:ext cx="1069729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rPr lang="vi-VN" sz="3200" dirty="0">
                <a:solidFill>
                  <a:srgbClr val="FF0000"/>
                </a:solidFill>
              </a:rPr>
              <a:t>PHÂN TÍCH DỮ LIỆU TƯƠNG TÁC NGƯỜI DÙNG </a:t>
            </a:r>
          </a:p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rPr lang="vi-VN" sz="3200" dirty="0">
                <a:solidFill>
                  <a:srgbClr val="FF0000"/>
                </a:solidFill>
              </a:rPr>
              <a:t>TRÊN KÊNH TIKTOK TVU</a:t>
            </a:r>
            <a:endParaRPr sz="3200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90BC68-CC80-4C3A-A12A-00C0F70667A7}"/>
              </a:ext>
            </a:extLst>
          </p:cNvPr>
          <p:cNvSpPr txBox="1"/>
          <p:nvPr/>
        </p:nvSpPr>
        <p:spPr>
          <a:xfrm>
            <a:off x="3047278" y="658321"/>
            <a:ext cx="60942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rPr lang="vi-VN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Báo cáo Tuần</a:t>
            </a:r>
            <a:endParaRPr lang="fr-FR" sz="36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FB4281-0792-4ADF-9A69-B618532163BB}"/>
              </a:ext>
            </a:extLst>
          </p:cNvPr>
          <p:cNvSpPr txBox="1"/>
          <p:nvPr/>
        </p:nvSpPr>
        <p:spPr>
          <a:xfrm>
            <a:off x="1930255" y="4174813"/>
            <a:ext cx="39771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rPr lang="vi-V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Người thực hiện: Lê Tuấn Kha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Arial"/>
              </a:defRPr>
            </a:pPr>
            <a:r>
              <a:rPr lang="vi-VN" dirty="0"/>
              <a:t>Nội dung báo cáo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137160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94560" y="1188720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C1"/>
                </a:solidFill>
                <a:latin typeface="Arial"/>
              </a:defRPr>
            </a:pPr>
            <a:r>
              <a:rPr lang="vi-VN" dirty="0"/>
              <a:t>Phần 1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194560" y="1463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Arial"/>
              </a:defRPr>
            </a:pPr>
            <a:r>
              <a:rPr lang="vi-VN" dirty="0"/>
              <a:t>QUY TRÌNH THỰC HIỆN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1828800" y="2468880"/>
            <a:ext cx="13716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0" y="2468880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Arial"/>
              </a:defRPr>
            </a:pPr>
            <a:r>
              <a:rPr lang="vi-VN" dirty="0"/>
              <a:t>Phần 2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2194560" y="2743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Arial"/>
              </a:defRPr>
            </a:pPr>
            <a:r>
              <a:rPr lang="vi-VN" dirty="0"/>
              <a:t>PHÂN TÍCH TƯƠNG TÁC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1828800" y="3749039"/>
            <a:ext cx="137160" cy="10058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94560" y="3749039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Arial"/>
              </a:defRPr>
            </a:pPr>
            <a:r>
              <a:rPr lang="vi-VN" dirty="0"/>
              <a:t>PHẦN</a:t>
            </a:r>
            <a:r>
              <a:rPr dirty="0"/>
              <a:t>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02335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Arial"/>
              </a:defRPr>
            </a:pPr>
            <a:r>
              <a:rPr lang="vi-VN" dirty="0"/>
              <a:t>PHÂN TÍCH CẢM XÚC</a:t>
            </a:r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1828800" y="5029199"/>
            <a:ext cx="137160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94560" y="5029199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Arial"/>
              </a:defRPr>
            </a:pPr>
            <a:r>
              <a:rPr lang="vi-VN" dirty="0"/>
              <a:t>PHẦN</a:t>
            </a:r>
            <a:r>
              <a:rPr dirty="0"/>
              <a:t>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530351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Arial"/>
              </a:defRPr>
            </a:pPr>
            <a:r>
              <a:rPr lang="vi-VN" dirty="0"/>
              <a:t>KẾT LUẬN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Tong cong 18 slides  |  Phuong phap -&gt; Tuong tac -&gt; Cam xuc -&gt; Ket luan</a:t>
            </a:r>
          </a:p>
        </p:txBody>
      </p:sp>
    </p:spTree>
    <p:extLst>
      <p:ext uri="{BB962C8B-B14F-4D97-AF65-F5344CB8AC3E}">
        <p14:creationId xmlns:p14="http://schemas.microsoft.com/office/powerpoint/2010/main" val="2393626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49555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Arial"/>
              </a:defRPr>
            </a:pPr>
            <a:r>
              <a:rPr lang="vi-VN" dirty="0"/>
              <a:t>QUY TRÌNH THỰC HIỆN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1200572" y="1260076"/>
            <a:ext cx="2582333" cy="118872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1656925" y="1615199"/>
            <a:ext cx="51646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rPr sz="2400" dirty="0"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14124" y="1660919"/>
            <a:ext cx="17559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rPr lang="vi-VN" sz="1600" dirty="0"/>
              <a:t>THU THẬP</a:t>
            </a:r>
            <a:endParaRPr sz="1600" dirty="0"/>
          </a:p>
        </p:txBody>
      </p:sp>
      <p:sp>
        <p:nvSpPr>
          <p:cNvPr id="8" name="Right Arrow 7"/>
          <p:cNvSpPr/>
          <p:nvPr/>
        </p:nvSpPr>
        <p:spPr>
          <a:xfrm>
            <a:off x="3897205" y="1660919"/>
            <a:ext cx="516467" cy="32004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ounded Rectangle 8"/>
          <p:cNvSpPr/>
          <p:nvPr/>
        </p:nvSpPr>
        <p:spPr>
          <a:xfrm>
            <a:off x="4400126" y="1249439"/>
            <a:ext cx="2240280" cy="1188720"/>
          </a:xfrm>
          <a:prstGeom prst="round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4491565" y="1615199"/>
            <a:ext cx="51646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rPr sz="2400" dirty="0"/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08786" y="1656454"/>
            <a:ext cx="13944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rPr lang="vi-VN" sz="1600" dirty="0"/>
              <a:t>LÀM SẠCH</a:t>
            </a:r>
            <a:endParaRPr sz="1600" dirty="0"/>
          </a:p>
        </p:txBody>
      </p:sp>
      <p:sp>
        <p:nvSpPr>
          <p:cNvPr id="13" name="Right Arrow 12"/>
          <p:cNvSpPr/>
          <p:nvPr/>
        </p:nvSpPr>
        <p:spPr>
          <a:xfrm>
            <a:off x="6731845" y="1660919"/>
            <a:ext cx="516467" cy="32004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Rounded Rectangle 13"/>
          <p:cNvSpPr/>
          <p:nvPr/>
        </p:nvSpPr>
        <p:spPr>
          <a:xfrm>
            <a:off x="7234765" y="1249439"/>
            <a:ext cx="2240281" cy="1188720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7326205" y="1615199"/>
            <a:ext cx="51646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rPr sz="2400"/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14330" y="1660919"/>
            <a:ext cx="17559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rPr lang="vi-VN" sz="1600" dirty="0"/>
              <a:t>KIỂM TRA</a:t>
            </a:r>
            <a:endParaRPr sz="1600" dirty="0"/>
          </a:p>
        </p:txBody>
      </p:sp>
      <p:sp>
        <p:nvSpPr>
          <p:cNvPr id="18" name="Right Arrow 17"/>
          <p:cNvSpPr/>
          <p:nvPr/>
        </p:nvSpPr>
        <p:spPr>
          <a:xfrm>
            <a:off x="2558856" y="3318096"/>
            <a:ext cx="516467" cy="32004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Rounded Rectangle 18"/>
          <p:cNvSpPr/>
          <p:nvPr/>
        </p:nvSpPr>
        <p:spPr>
          <a:xfrm>
            <a:off x="3061777" y="2906616"/>
            <a:ext cx="2286000" cy="118872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53216" y="3272376"/>
            <a:ext cx="51646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rPr sz="2400"/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1857" y="3330359"/>
            <a:ext cx="1413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rPr lang="vi-VN" sz="1600" dirty="0"/>
              <a:t>GÁN NHÃN</a:t>
            </a:r>
            <a:endParaRPr sz="1600" dirty="0"/>
          </a:p>
        </p:txBody>
      </p:sp>
      <p:sp>
        <p:nvSpPr>
          <p:cNvPr id="24" name="TextBox 23"/>
          <p:cNvSpPr txBox="1"/>
          <p:nvPr/>
        </p:nvSpPr>
        <p:spPr>
          <a:xfrm>
            <a:off x="6026573" y="2903292"/>
            <a:ext cx="51646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rPr sz="2400"/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773" y="2903292"/>
            <a:ext cx="17559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rPr sz="1600" dirty="0"/>
              <a:t>GHE P NOI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523653" y="3246192"/>
            <a:ext cx="516467" cy="32004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28" name="Rounded Rectangle 27"/>
          <p:cNvSpPr/>
          <p:nvPr/>
        </p:nvSpPr>
        <p:spPr>
          <a:xfrm>
            <a:off x="6040120" y="2849639"/>
            <a:ext cx="2614506" cy="118872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29" name="TextBox 28"/>
          <p:cNvSpPr txBox="1"/>
          <p:nvPr/>
        </p:nvSpPr>
        <p:spPr>
          <a:xfrm>
            <a:off x="6163733" y="3152674"/>
            <a:ext cx="5164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rPr lang="vi-VN" sz="2400" dirty="0"/>
              <a:t>5</a:t>
            </a:r>
            <a:endParaRPr sz="2400" dirty="0"/>
          </a:p>
        </p:txBody>
      </p:sp>
      <p:sp>
        <p:nvSpPr>
          <p:cNvPr id="30" name="TextBox 29"/>
          <p:cNvSpPr txBox="1"/>
          <p:nvPr/>
        </p:nvSpPr>
        <p:spPr>
          <a:xfrm>
            <a:off x="6712373" y="3223332"/>
            <a:ext cx="17559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rPr lang="vi-VN" sz="1600" dirty="0"/>
              <a:t>PHÂN TÍCH</a:t>
            </a:r>
            <a:endParaRPr sz="1600" dirty="0"/>
          </a:p>
        </p:txBody>
      </p:sp>
      <p:sp>
        <p:nvSpPr>
          <p:cNvPr id="32" name="TextBox 31"/>
          <p:cNvSpPr txBox="1"/>
          <p:nvPr/>
        </p:nvSpPr>
        <p:spPr>
          <a:xfrm>
            <a:off x="457200" y="4468611"/>
            <a:ext cx="33604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Arial"/>
              </a:defRPr>
            </a:pPr>
            <a:r>
              <a:rPr lang="vi-VN" dirty="0"/>
              <a:t>CÔNG NGHỆ SỬ DỤNG</a:t>
            </a:r>
            <a:endParaRPr dirty="0"/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924741"/>
              </p:ext>
            </p:extLst>
          </p:nvPr>
        </p:nvGraphicFramePr>
        <p:xfrm>
          <a:off x="2992117" y="4918816"/>
          <a:ext cx="6118167" cy="182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9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8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41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vi-VN" dirty="0"/>
                        <a:t>Thành phần</a:t>
                      </a:r>
                      <a:endParaRPr dirty="0"/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vi-VN" dirty="0"/>
                        <a:t>Công nghệ</a:t>
                      </a:r>
                      <a:endParaRPr dirty="0"/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1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lang="vi-VN" dirty="0"/>
                        <a:t>Thu thập dữ liệu</a:t>
                      </a:r>
                      <a:endParaRPr dirty="0"/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dirty="0" err="1"/>
                        <a:t>Apify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TikTok</a:t>
                      </a:r>
                      <a:r>
                        <a:rPr dirty="0"/>
                        <a:t> Scraper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1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lang="vi-VN" dirty="0"/>
                        <a:t>Xử lý dữ liệu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dirty="0"/>
                        <a:t>Python + Pandas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1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lang="vi-VN" dirty="0"/>
                        <a:t>Phân tích cảm xúc</a:t>
                      </a:r>
                      <a:endParaRPr dirty="0"/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dirty="0" err="1"/>
                        <a:t>PhoBERT</a:t>
                      </a:r>
                      <a:r>
                        <a:rPr dirty="0"/>
                        <a:t> 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1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lang="vi-VN" dirty="0"/>
                        <a:t>Trực quan hóa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dirty="0"/>
                        <a:t>Matplotlib + Seaborn + </a:t>
                      </a:r>
                      <a:r>
                        <a:rPr dirty="0" err="1"/>
                        <a:t>WordCloud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Arial"/>
              </a:defRPr>
            </a:pPr>
            <a:r>
              <a:rPr lang="vi-VN" dirty="0"/>
              <a:t>DỮ LIỆU THU THẬP ĐƯỢC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255220" y="982045"/>
            <a:ext cx="3678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Arial"/>
              </a:defRPr>
            </a:pPr>
            <a:r>
              <a:rPr lang="vi-VN" dirty="0"/>
              <a:t>Công cụ</a:t>
            </a:r>
            <a:r>
              <a:rPr dirty="0"/>
              <a:t>: </a:t>
            </a:r>
            <a:r>
              <a:rPr dirty="0" err="1"/>
              <a:t>Apify</a:t>
            </a:r>
            <a:r>
              <a:rPr dirty="0"/>
              <a:t> </a:t>
            </a:r>
            <a:r>
              <a:rPr dirty="0" err="1"/>
              <a:t>TikTok</a:t>
            </a:r>
            <a:r>
              <a:rPr dirty="0"/>
              <a:t> Scraper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504" y="1580557"/>
            <a:ext cx="6099462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Arial"/>
              </a:defRPr>
            </a:pPr>
            <a:r>
              <a:rPr lang="vi-VN" sz="1600" dirty="0"/>
              <a:t>Đối tượng</a:t>
            </a:r>
            <a:r>
              <a:rPr sz="1600" dirty="0"/>
              <a:t>: </a:t>
            </a:r>
            <a:r>
              <a:rPr sz="1600" b="1" dirty="0" err="1"/>
              <a:t>Kenh</a:t>
            </a:r>
            <a:r>
              <a:rPr sz="1600" b="1" dirty="0"/>
              <a:t> @travinhuniversity (</a:t>
            </a:r>
            <a:r>
              <a:rPr lang="vi-VN" sz="1600" b="1" dirty="0"/>
              <a:t>Đ</a:t>
            </a:r>
            <a:r>
              <a:rPr sz="1600" b="1" dirty="0"/>
              <a:t>H </a:t>
            </a:r>
            <a:r>
              <a:rPr lang="vi-VN" sz="1600" b="1" dirty="0"/>
              <a:t>Trà</a:t>
            </a:r>
            <a:r>
              <a:rPr sz="1600" b="1" dirty="0"/>
              <a:t> Vinh)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Arial"/>
              </a:defRPr>
            </a:pPr>
            <a:r>
              <a:rPr lang="vi-VN" sz="1600" dirty="0"/>
              <a:t>Số lượng video thu thập</a:t>
            </a:r>
            <a:r>
              <a:rPr sz="1600" dirty="0"/>
              <a:t>: 100 videos</a:t>
            </a:r>
            <a:r>
              <a:rPr lang="vi-VN" sz="1600" dirty="0"/>
              <a:t> mới nhất</a:t>
            </a:r>
            <a:endParaRPr sz="1600" dirty="0"/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Arial"/>
              </a:defRPr>
            </a:pPr>
            <a:r>
              <a:rPr lang="vi-VN" sz="1600" dirty="0"/>
              <a:t>Ngày thu thập</a:t>
            </a:r>
            <a:r>
              <a:rPr sz="1600" dirty="0"/>
              <a:t>: 06/03/2026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Arial"/>
              </a:defRPr>
            </a:pPr>
            <a:endParaRPr sz="1600" dirty="0"/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Arial"/>
              </a:defRPr>
            </a:pPr>
            <a:r>
              <a:rPr lang="vi-VN" sz="1600" dirty="0"/>
              <a:t>Dữ liệu video bao gồm: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Arial"/>
              </a:defRPr>
            </a:pPr>
            <a:r>
              <a:rPr sz="1600" dirty="0"/>
              <a:t>  - ID video, </a:t>
            </a:r>
            <a:r>
              <a:rPr sz="1600" dirty="0" err="1"/>
              <a:t>ngay</a:t>
            </a:r>
            <a:r>
              <a:rPr sz="1600" dirty="0"/>
              <a:t> dang (</a:t>
            </a:r>
            <a:r>
              <a:rPr sz="1600" dirty="0" err="1"/>
              <a:t>create_time</a:t>
            </a:r>
            <a:r>
              <a:rPr sz="1600" dirty="0"/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Arial"/>
              </a:defRPr>
            </a:pPr>
            <a:r>
              <a:rPr sz="1600" dirty="0"/>
              <a:t>  - </a:t>
            </a:r>
            <a:r>
              <a:rPr lang="vi-VN" sz="1600" dirty="0"/>
              <a:t>Lượt</a:t>
            </a:r>
            <a:r>
              <a:rPr sz="1600" dirty="0"/>
              <a:t> </a:t>
            </a:r>
            <a:r>
              <a:rPr sz="1600" dirty="0" err="1"/>
              <a:t>xem</a:t>
            </a:r>
            <a:r>
              <a:rPr sz="1600" dirty="0"/>
              <a:t> (</a:t>
            </a:r>
            <a:r>
              <a:rPr sz="1600" dirty="0" err="1"/>
              <a:t>play_count</a:t>
            </a:r>
            <a:r>
              <a:rPr sz="1600" dirty="0"/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Arial"/>
              </a:defRPr>
            </a:pPr>
            <a:r>
              <a:rPr sz="1600" dirty="0"/>
              <a:t>  - </a:t>
            </a:r>
            <a:r>
              <a:rPr lang="vi-VN" sz="1600" dirty="0"/>
              <a:t>Lượt</a:t>
            </a:r>
            <a:r>
              <a:rPr sz="1600" dirty="0"/>
              <a:t> </a:t>
            </a:r>
            <a:r>
              <a:rPr sz="1600" dirty="0" err="1"/>
              <a:t>thich</a:t>
            </a:r>
            <a:r>
              <a:rPr sz="1600" dirty="0"/>
              <a:t> (</a:t>
            </a:r>
            <a:r>
              <a:rPr sz="1600" dirty="0" err="1"/>
              <a:t>like_count</a:t>
            </a:r>
            <a:r>
              <a:rPr sz="1600" dirty="0"/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Arial"/>
              </a:defRPr>
            </a:pPr>
            <a:r>
              <a:rPr sz="1600" dirty="0"/>
              <a:t>  - </a:t>
            </a:r>
            <a:r>
              <a:rPr lang="vi-VN" sz="1600" dirty="0"/>
              <a:t>Lượt</a:t>
            </a:r>
            <a:r>
              <a:rPr sz="1600" dirty="0"/>
              <a:t> </a:t>
            </a:r>
            <a:r>
              <a:rPr sz="1600" dirty="0" err="1"/>
              <a:t>binh</a:t>
            </a:r>
            <a:r>
              <a:rPr sz="1600" dirty="0"/>
              <a:t> </a:t>
            </a:r>
            <a:r>
              <a:rPr sz="1600" dirty="0" err="1"/>
              <a:t>luan</a:t>
            </a:r>
            <a:r>
              <a:rPr sz="1600" dirty="0"/>
              <a:t> (</a:t>
            </a:r>
            <a:r>
              <a:rPr sz="1600" dirty="0" err="1"/>
              <a:t>comment_count</a:t>
            </a:r>
            <a:r>
              <a:rPr sz="1600" dirty="0"/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Arial"/>
              </a:defRPr>
            </a:pPr>
            <a:r>
              <a:rPr sz="1600" dirty="0"/>
              <a:t>  - </a:t>
            </a:r>
            <a:r>
              <a:rPr lang="vi-VN" sz="1600" dirty="0"/>
              <a:t>Lượt</a:t>
            </a:r>
            <a:r>
              <a:rPr sz="1600" dirty="0"/>
              <a:t> chia se (</a:t>
            </a:r>
            <a:r>
              <a:rPr sz="1600" dirty="0" err="1"/>
              <a:t>share_count</a:t>
            </a:r>
            <a:r>
              <a:rPr sz="1600" dirty="0"/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Arial"/>
              </a:defRPr>
            </a:pPr>
            <a:r>
              <a:rPr sz="1600" dirty="0"/>
              <a:t>  - </a:t>
            </a:r>
            <a:r>
              <a:rPr lang="vi-VN" sz="1600" dirty="0"/>
              <a:t>Lượt</a:t>
            </a:r>
            <a:r>
              <a:rPr sz="1600" dirty="0"/>
              <a:t> </a:t>
            </a:r>
            <a:r>
              <a:rPr lang="vi-VN" sz="1600" dirty="0"/>
              <a:t>lưu</a:t>
            </a:r>
            <a:r>
              <a:rPr sz="1600" dirty="0"/>
              <a:t> (</a:t>
            </a:r>
            <a:r>
              <a:rPr sz="1600" dirty="0" err="1"/>
              <a:t>collect_count</a:t>
            </a:r>
            <a:r>
              <a:rPr sz="1600" dirty="0"/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Arial"/>
              </a:defRPr>
            </a:pP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4B1772-D036-4621-BFD7-E30A2F4FCFB4}"/>
              </a:ext>
            </a:extLst>
          </p:cNvPr>
          <p:cNvSpPr txBox="1"/>
          <p:nvPr/>
        </p:nvSpPr>
        <p:spPr>
          <a:xfrm>
            <a:off x="5943600" y="1580557"/>
            <a:ext cx="6099462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Arial"/>
              </a:defRPr>
            </a:pPr>
            <a:r>
              <a:rPr lang="vi-VN" sz="1800" dirty="0"/>
              <a:t>Dữ liệu bình luận thu thập: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Arial"/>
              </a:defRPr>
            </a:pPr>
            <a:r>
              <a:rPr lang="vi-VN" sz="1800" dirty="0"/>
              <a:t>  - 1,222 bình luận từ100 videos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Arial"/>
              </a:defRPr>
            </a:pPr>
            <a:r>
              <a:rPr lang="vi-VN" sz="1800" dirty="0"/>
              <a:t>  - Nội dung, tác giả, số likes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Arial"/>
              </a:defRPr>
            </a:pPr>
            <a:r>
              <a:rPr lang="vi-VN" sz="1800" dirty="0"/>
              <a:t>  - Ngôn ngữ(</a:t>
            </a:r>
            <a:r>
              <a:rPr lang="vi-VN" sz="1600" dirty="0"/>
              <a:t>vi</a:t>
            </a:r>
            <a:r>
              <a:rPr lang="vi-VN" sz="1800" dirty="0"/>
              <a:t>, en, ...)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Arial"/>
              </a:defRPr>
            </a:pPr>
            <a:r>
              <a:rPr lang="vi-VN" dirty="0"/>
              <a:t>TỔNG QUAN TƯƠNG TÁC</a:t>
            </a:r>
            <a:endParaRPr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B25185-0F6D-4C81-88C2-C3818742AB85}"/>
              </a:ext>
            </a:extLst>
          </p:cNvPr>
          <p:cNvSpPr/>
          <p:nvPr/>
        </p:nvSpPr>
        <p:spPr>
          <a:xfrm>
            <a:off x="274320" y="1005840"/>
            <a:ext cx="2011680" cy="12801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A8B2B5-F584-40F8-8C82-54749E2FD08D}"/>
              </a:ext>
            </a:extLst>
          </p:cNvPr>
          <p:cNvSpPr txBox="1"/>
          <p:nvPr/>
        </p:nvSpPr>
        <p:spPr>
          <a:xfrm>
            <a:off x="274320" y="1143000"/>
            <a:ext cx="19202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rPr dirty="0"/>
              <a:t>10,843,095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659A62-9B23-4B89-80BB-7785F113A8E4}"/>
              </a:ext>
            </a:extLst>
          </p:cNvPr>
          <p:cNvSpPr txBox="1"/>
          <p:nvPr/>
        </p:nvSpPr>
        <p:spPr>
          <a:xfrm>
            <a:off x="36576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Total Plays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DA72667-FEA6-42C5-A61D-5FC812953243}"/>
              </a:ext>
            </a:extLst>
          </p:cNvPr>
          <p:cNvSpPr/>
          <p:nvPr/>
        </p:nvSpPr>
        <p:spPr>
          <a:xfrm>
            <a:off x="2560320" y="1005840"/>
            <a:ext cx="2011680" cy="12801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A2ADAD-0BE0-4C99-8266-8BD77CD37FD4}"/>
              </a:ext>
            </a:extLst>
          </p:cNvPr>
          <p:cNvSpPr txBox="1"/>
          <p:nvPr/>
        </p:nvSpPr>
        <p:spPr>
          <a:xfrm>
            <a:off x="2651760" y="11430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367,185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B28643-52B7-48ED-9335-90C9BB858EAE}"/>
              </a:ext>
            </a:extLst>
          </p:cNvPr>
          <p:cNvSpPr txBox="1"/>
          <p:nvPr/>
        </p:nvSpPr>
        <p:spPr>
          <a:xfrm>
            <a:off x="265176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Total Likes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0F0FC9-F12E-497A-90BD-2BFA59E8986A}"/>
              </a:ext>
            </a:extLst>
          </p:cNvPr>
          <p:cNvSpPr/>
          <p:nvPr/>
        </p:nvSpPr>
        <p:spPr>
          <a:xfrm>
            <a:off x="4846320" y="1005840"/>
            <a:ext cx="2011680" cy="1280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ADC5C3-816A-481B-AF20-0BAE7CE14221}"/>
              </a:ext>
            </a:extLst>
          </p:cNvPr>
          <p:cNvSpPr txBox="1"/>
          <p:nvPr/>
        </p:nvSpPr>
        <p:spPr>
          <a:xfrm>
            <a:off x="4937759" y="11430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rPr dirty="0"/>
              <a:t>1,222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4E0637-A462-4E7E-9351-1CB661C5B767}"/>
              </a:ext>
            </a:extLst>
          </p:cNvPr>
          <p:cNvSpPr txBox="1"/>
          <p:nvPr/>
        </p:nvSpPr>
        <p:spPr>
          <a:xfrm>
            <a:off x="4937759" y="1828800"/>
            <a:ext cx="1828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rPr dirty="0"/>
              <a:t>Comments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7A6929A-0EED-4B62-B042-EB3FC132FE73}"/>
              </a:ext>
            </a:extLst>
          </p:cNvPr>
          <p:cNvSpPr/>
          <p:nvPr/>
        </p:nvSpPr>
        <p:spPr>
          <a:xfrm>
            <a:off x="7132320" y="1005840"/>
            <a:ext cx="2011680" cy="12801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DD1D5B-E16A-4774-BE05-113DAD528171}"/>
              </a:ext>
            </a:extLst>
          </p:cNvPr>
          <p:cNvSpPr txBox="1"/>
          <p:nvPr/>
        </p:nvSpPr>
        <p:spPr>
          <a:xfrm>
            <a:off x="7223759" y="11430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77,377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5119EE-2CD3-4D5F-9D53-A359DEB2BB3F}"/>
              </a:ext>
            </a:extLst>
          </p:cNvPr>
          <p:cNvSpPr txBox="1"/>
          <p:nvPr/>
        </p:nvSpPr>
        <p:spPr>
          <a:xfrm>
            <a:off x="7223759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Total Shares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9A91ADC-9D64-4A0F-9BD4-E319743370AB}"/>
              </a:ext>
            </a:extLst>
          </p:cNvPr>
          <p:cNvSpPr/>
          <p:nvPr/>
        </p:nvSpPr>
        <p:spPr>
          <a:xfrm>
            <a:off x="9418320" y="1005840"/>
            <a:ext cx="2011680" cy="12801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D05E780-D83A-46A4-AA69-91040A12C953}"/>
              </a:ext>
            </a:extLst>
          </p:cNvPr>
          <p:cNvSpPr txBox="1"/>
          <p:nvPr/>
        </p:nvSpPr>
        <p:spPr>
          <a:xfrm>
            <a:off x="9509760" y="11430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13,353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29D391A-8BCB-4D81-AE65-6C7F6914EEE1}"/>
              </a:ext>
            </a:extLst>
          </p:cNvPr>
          <p:cNvSpPr txBox="1"/>
          <p:nvPr/>
        </p:nvSpPr>
        <p:spPr>
          <a:xfrm>
            <a:off x="950976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Total Saves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E5D9B6-245A-4A20-A66E-AD69B4DC5DA4}"/>
              </a:ext>
            </a:extLst>
          </p:cNvPr>
          <p:cNvSpPr txBox="1"/>
          <p:nvPr/>
        </p:nvSpPr>
        <p:spPr>
          <a:xfrm>
            <a:off x="667097" y="2479357"/>
            <a:ext cx="976537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/>
              <a:t>Tỷ lệ tương tác trung bình</a:t>
            </a:r>
          </a:p>
          <a:p>
            <a:r>
              <a:rPr lang="vi-VN" dirty="0"/>
              <a:t>Engagement: 4.16%</a:t>
            </a:r>
            <a:br>
              <a:rPr lang="vi-VN" dirty="0"/>
            </a:br>
            <a:r>
              <a:rPr lang="vi-VN" dirty="0"/>
              <a:t>Like: 3.39% | Comment: 0.06% | Share: 0.71%</a:t>
            </a:r>
          </a:p>
          <a:p>
            <a:r>
              <a:rPr lang="vi-VN" dirty="0"/>
              <a:t>Nguồn dữ liệu: Apify TikTok Scraper – 100 video</a:t>
            </a:r>
            <a:br>
              <a:rPr lang="vi-VN" dirty="0"/>
            </a:br>
            <a:r>
              <a:rPr lang="vi-VN" dirty="0"/>
              <a:t>Ngày thu thập: 06/03/2026</a:t>
            </a:r>
          </a:p>
          <a:p>
            <a:endParaRPr lang="vi-VN" dirty="0"/>
          </a:p>
          <a:p>
            <a:r>
              <a:rPr lang="vi-VN" b="1" dirty="0"/>
              <a:t>Phân tích:</a:t>
            </a:r>
            <a:endParaRPr lang="vi-VN" dirty="0"/>
          </a:p>
          <a:p>
            <a:r>
              <a:rPr lang="vi-VN" dirty="0"/>
              <a:t>- Likes chiếm 85.1% tổng tương tác, cho thấy người dùng chủ yếu thể hiện sự quan tâm bằng cách bày tỏ cảm xúc.</a:t>
            </a:r>
          </a:p>
          <a:p>
            <a:r>
              <a:rPr lang="vi-VN" dirty="0"/>
              <a:t>- Shares (11.9%) và Saves (2.1%) cho thấy một phần nội dung có giá trị để chia sẻ hoặc lưu lại.</a:t>
            </a:r>
          </a:p>
          <a:p>
            <a:r>
              <a:rPr lang="vi-VN" dirty="0"/>
              <a:t>- Comments chiếm tỷ lệ thấp, cho thấy mức độ thảo luận của người xem chưa cao.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07025" y="351449"/>
            <a:ext cx="59747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Arial"/>
              </a:defRPr>
            </a:pPr>
            <a:r>
              <a:rPr dirty="0"/>
              <a:t>TOP 10 VIDEOS THEO </a:t>
            </a:r>
            <a:r>
              <a:rPr lang="vi-VN" dirty="0"/>
              <a:t>LƯỢT</a:t>
            </a:r>
            <a:r>
              <a:rPr dirty="0"/>
              <a:t> XEM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375335"/>
              </p:ext>
            </p:extLst>
          </p:nvPr>
        </p:nvGraphicFramePr>
        <p:xfrm>
          <a:off x="1101436" y="1005840"/>
          <a:ext cx="9715500" cy="5239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7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9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93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94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94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9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628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Video ID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Plays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Likes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Comments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Shares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Eng. Rate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8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7592439894094482696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dirty="0"/>
                        <a:t>2,000,000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122,900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862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dirty="0"/>
                        <a:t>26,100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7.49%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8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7594387595551853832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dirty="0"/>
                        <a:t>1,600,000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dirty="0"/>
                        <a:t>32,800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4,969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2.38%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8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7546456531819138320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dirty="0"/>
                        <a:t>1,000,000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42,300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616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8,614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dirty="0"/>
                        <a:t>5.15%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8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7553953881168858384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842,800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24,100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8,746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3.94%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8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7552175330895596807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482,500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16,100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530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3.46%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8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7551055901289975058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350,700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5,135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1.78%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8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7552179278645841159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338,900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dirty="0"/>
                        <a:t>6,950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2.18%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628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7536152035369045249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233,700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7,266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3.51%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628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7573994030976011528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211,300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8,971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922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4.70%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629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7552350837150862600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193,400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4,865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dirty="0"/>
                        <a:t>2.64%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1688" y="351449"/>
            <a:ext cx="73254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Arial"/>
              </a:defRPr>
            </a:pPr>
            <a:r>
              <a:rPr lang="vi-VN"/>
              <a:t>SO SÁNH TƯƠNG TÁC – TOP 10 VIDEOS</a:t>
            </a:r>
            <a:endParaRPr dirty="0"/>
          </a:p>
        </p:txBody>
      </p:sp>
      <p:pic>
        <p:nvPicPr>
          <p:cNvPr id="4" name="Picture 3" descr="video_comparison_bar.png">
            <a:extLst>
              <a:ext uri="{FF2B5EF4-FFF2-40B4-BE49-F238E27FC236}">
                <a16:creationId xmlns:a16="http://schemas.microsoft.com/office/drawing/2014/main" id="{7779C059-9950-47B9-89AC-D7E32479F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39091"/>
            <a:ext cx="11612880" cy="566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903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Arial"/>
              </a:defRPr>
            </a:pPr>
            <a:r>
              <a:rPr lang="vi-VN" dirty="0"/>
              <a:t>PHÂN TÍCH SẮC THÁI BÌNH LUẬN</a:t>
            </a:r>
            <a:r>
              <a:rPr dirty="0"/>
              <a:t>(SENTIMENT)</a:t>
            </a:r>
          </a:p>
        </p:txBody>
      </p:sp>
      <p:pic>
        <p:nvPicPr>
          <p:cNvPr id="3" name="Picture 2" descr="sentiment_pie.png"/>
          <p:cNvPicPr>
            <a:picLocks noChangeAspect="1"/>
          </p:cNvPicPr>
          <p:nvPr/>
        </p:nvPicPr>
        <p:blipFill rotWithShape="1">
          <a:blip r:embed="rId2"/>
          <a:srcRect t="8802"/>
          <a:stretch/>
        </p:blipFill>
        <p:spPr>
          <a:xfrm>
            <a:off x="182880" y="1174172"/>
            <a:ext cx="5029200" cy="45865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0" y="914400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Arial"/>
              </a:defRPr>
            </a:pPr>
            <a:r>
              <a:rPr lang="vi-VN" dirty="0"/>
              <a:t>Kết quả phân tích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669280" y="1463040"/>
            <a:ext cx="5943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Arial"/>
              </a:defRPr>
            </a:pPr>
            <a:r>
              <a:rPr dirty="0"/>
              <a:t>Model: </a:t>
            </a:r>
            <a:r>
              <a:rPr dirty="0" err="1"/>
              <a:t>PhoBERT</a:t>
            </a:r>
            <a:r>
              <a:rPr dirty="0"/>
              <a:t> (Vietnamese NLP) </a:t>
            </a:r>
            <a:r>
              <a:rPr lang="en-US" dirty="0"/>
              <a:t>–</a:t>
            </a:r>
            <a:r>
              <a:rPr dirty="0"/>
              <a:t> </a:t>
            </a:r>
            <a:r>
              <a:rPr lang="vi-VN" dirty="0"/>
              <a:t>Độ chính xác </a:t>
            </a:r>
            <a:r>
              <a:rPr dirty="0"/>
              <a:t>~92%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750424"/>
              </p:ext>
            </p:extLst>
          </p:nvPr>
        </p:nvGraphicFramePr>
        <p:xfrm>
          <a:off x="5669280" y="2011680"/>
          <a:ext cx="46634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Sentiment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vi-VN" dirty="0"/>
                        <a:t>Số lượng</a:t>
                      </a:r>
                      <a:endParaRPr dirty="0"/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vi-VN" dirty="0"/>
                        <a:t>Tỷ lệ</a:t>
                      </a:r>
                      <a:endParaRPr dirty="0"/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Avg Conf.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Positive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523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42.8%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0.815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Neutral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Negative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dirty="0"/>
                        <a:t>232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19.0%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dirty="0"/>
                        <a:t>0.892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0" y="3657600"/>
            <a:ext cx="5943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Arial"/>
              </a:defRPr>
            </a:pPr>
            <a:r>
              <a:rPr lang="vi-VN" dirty="0"/>
              <a:t>Phân bố </a:t>
            </a:r>
            <a:r>
              <a:rPr dirty="0"/>
              <a:t>Confidence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022587"/>
              </p:ext>
            </p:extLst>
          </p:nvPr>
        </p:nvGraphicFramePr>
        <p:xfrm>
          <a:off x="5669280" y="4114800"/>
          <a:ext cx="5943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vi-VN" dirty="0"/>
                        <a:t>Mức độ</a:t>
                      </a:r>
                      <a:endParaRPr dirty="0"/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vi-VN" dirty="0"/>
                        <a:t>Số lượng</a:t>
                      </a:r>
                      <a:endParaRPr dirty="0"/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vi-VN" dirty="0"/>
                        <a:t>Tỷ lệ</a:t>
                      </a:r>
                      <a:endParaRPr dirty="0"/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High (&gt;=0.9)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613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50.2%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Medium (0.7-0.9)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38.0%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Low (&lt;0.7)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145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dirty="0"/>
                        <a:t>11.9%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Arial"/>
              </a:defRPr>
            </a:pPr>
            <a:r>
              <a:rPr lang="vi-VN" dirty="0"/>
              <a:t>TỪ KHÓA NỔI BẬT </a:t>
            </a:r>
            <a:endParaRPr dirty="0"/>
          </a:p>
        </p:txBody>
      </p:sp>
      <p:pic>
        <p:nvPicPr>
          <p:cNvPr id="3" name="Picture 2" descr="wordcloud.png"/>
          <p:cNvPicPr>
            <a:picLocks noChangeAspect="1"/>
          </p:cNvPicPr>
          <p:nvPr/>
        </p:nvPicPr>
        <p:blipFill rotWithShape="1">
          <a:blip r:embed="rId2"/>
          <a:srcRect t="9348"/>
          <a:stretch/>
        </p:blipFill>
        <p:spPr>
          <a:xfrm>
            <a:off x="274320" y="893618"/>
            <a:ext cx="11612880" cy="56900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Arial"/>
              </a:defRPr>
            </a:pPr>
            <a:r>
              <a:rPr lang="vi-VN" dirty="0"/>
              <a:t>TỪ KHÓA TÍCH CỰC VÀ TIÊU CỰC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655272" y="1134877"/>
            <a:ext cx="28159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Arial"/>
              </a:defRPr>
            </a:pPr>
            <a:r>
              <a:rPr lang="vi-VN" dirty="0"/>
              <a:t>Bình luận Tích Cực</a:t>
            </a:r>
            <a:r>
              <a:rPr dirty="0"/>
              <a:t> (523)</a:t>
            </a:r>
          </a:p>
        </p:txBody>
      </p:sp>
      <p:pic>
        <p:nvPicPr>
          <p:cNvPr id="4" name="Picture 3" descr="wordcloud_positive.png"/>
          <p:cNvPicPr>
            <a:picLocks noChangeAspect="1"/>
          </p:cNvPicPr>
          <p:nvPr/>
        </p:nvPicPr>
        <p:blipFill rotWithShape="1">
          <a:blip r:embed="rId2"/>
          <a:srcRect t="6339"/>
          <a:stretch/>
        </p:blipFill>
        <p:spPr>
          <a:xfrm>
            <a:off x="182880" y="1691640"/>
            <a:ext cx="576072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52657" y="1133743"/>
            <a:ext cx="26912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Arial"/>
              </a:defRPr>
            </a:pPr>
            <a:r>
              <a:rPr lang="vi-VN" dirty="0"/>
              <a:t>Bình luận Tiêu cực </a:t>
            </a:r>
            <a:r>
              <a:rPr dirty="0"/>
              <a:t>(232)</a:t>
            </a:r>
          </a:p>
        </p:txBody>
      </p:sp>
      <p:pic>
        <p:nvPicPr>
          <p:cNvPr id="6" name="Picture 5" descr="wordcloud_negative.png"/>
          <p:cNvPicPr>
            <a:picLocks noChangeAspect="1"/>
          </p:cNvPicPr>
          <p:nvPr/>
        </p:nvPicPr>
        <p:blipFill rotWithShape="1">
          <a:blip r:embed="rId3"/>
          <a:srcRect t="6041"/>
          <a:stretch/>
        </p:blipFill>
        <p:spPr>
          <a:xfrm>
            <a:off x="6217920" y="1691640"/>
            <a:ext cx="57607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Arial"/>
              </a:defRPr>
            </a:pPr>
            <a:r>
              <a:rPr lang="vi-VN" dirty="0"/>
              <a:t>TOP NHỮNG BÌNH LUẬN 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084811" y="914400"/>
            <a:ext cx="5486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Arial"/>
              </a:defRPr>
            </a:pPr>
            <a:r>
              <a:rPr dirty="0"/>
              <a:t>Top 5 Positive Comments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468313"/>
              </p:ext>
            </p:extLst>
          </p:nvPr>
        </p:nvGraphicFramePr>
        <p:xfrm>
          <a:off x="1178328" y="1354425"/>
          <a:ext cx="748769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5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4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5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Likes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Conf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 err="1"/>
                        <a:t>Noi</a:t>
                      </a:r>
                      <a:r>
                        <a:rPr dirty="0"/>
                        <a:t> dung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1,454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lang="vi-VN" dirty="0"/>
                        <a:t>Ở Hà Lan được 6 năm lặng lẽ đọc cmt và cười</a:t>
                      </a:r>
                      <a:endParaRPr dirty="0"/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lang="en-US" dirty="0" err="1"/>
                        <a:t>này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mới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là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chữ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nè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còn</a:t>
                      </a:r>
                      <a:r>
                        <a:rPr lang="en-US" dirty="0"/>
                        <a:t> t </a:t>
                      </a:r>
                      <a:r>
                        <a:rPr lang="en-US" dirty="0" err="1"/>
                        <a:t>là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dĩa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rau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muống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xào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774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0.73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lang="vi-VN" dirty="0"/>
                        <a:t>Đã quá z. Thích trường nào có chương trình trao đổi sinh ...</a:t>
                      </a:r>
                      <a:endParaRPr dirty="0"/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lang="vi-VN" dirty="0"/>
                        <a:t>Đại Học Cần Thơ mà quê Trà Vinh chào nhau cái được không ạ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251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0.74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lang="vi-VN" dirty="0"/>
                        <a:t>3 năm như 1</a:t>
                      </a:r>
                      <a:endParaRPr dirty="0"/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84811" y="3657600"/>
            <a:ext cx="5486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Arial"/>
              </a:defRPr>
            </a:pPr>
            <a:r>
              <a:rPr dirty="0"/>
              <a:t>Top 5 Negative Comments 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364616"/>
              </p:ext>
            </p:extLst>
          </p:nvPr>
        </p:nvGraphicFramePr>
        <p:xfrm>
          <a:off x="1178328" y="4114800"/>
          <a:ext cx="7487691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5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4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5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Likes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Conf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 err="1"/>
                        <a:t>Noi</a:t>
                      </a:r>
                      <a:r>
                        <a:rPr dirty="0"/>
                        <a:t> dung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2,093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lang="vi-VN" dirty="0"/>
                        <a:t>Theo gv tiểu học mà chữ như vẽ bùa</a:t>
                      </a:r>
                      <a:endParaRPr dirty="0"/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lang="vi-VN" dirty="0"/>
                        <a:t>nghe Diệu Kiên hát xong thì thấy Dương ái Vy thì chỉ là c...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187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0.58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lang="vi-VN" dirty="0"/>
                        <a:t>Vậy là thằng bé này nhỏ hơn mình 10t saooo</a:t>
                      </a:r>
                      <a:endParaRPr dirty="0"/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lang="vi-VN" dirty="0"/>
                        <a:t>Không như mấy chị em nghĩ đâu, nó hỗn loạn mà nó xa..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0.59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lang="en-US" dirty="0" err="1"/>
                        <a:t>sao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mấy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đại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học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trên</a:t>
                      </a:r>
                      <a:r>
                        <a:rPr lang="en-US" dirty="0"/>
                        <a:t> SG ko </a:t>
                      </a:r>
                      <a:r>
                        <a:rPr lang="en-US" dirty="0" err="1"/>
                        <a:t>có</a:t>
                      </a:r>
                      <a:r>
                        <a:rPr lang="en-US" dirty="0"/>
                        <a:t> hic</a:t>
                      </a:r>
                      <a:endParaRPr dirty="0"/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Arial"/>
              </a:defRPr>
            </a:pPr>
            <a:r>
              <a:rPr lang="vi-VN" dirty="0"/>
              <a:t>PHÂN TÍCH KẾT HỢP</a:t>
            </a:r>
            <a:r>
              <a:rPr dirty="0"/>
              <a:t>: ENGAGEMENT x SENTIMENT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3945" y="935182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Arial"/>
              </a:defRPr>
            </a:pPr>
            <a:r>
              <a:rPr dirty="0"/>
              <a:t>Videos</a:t>
            </a:r>
            <a:r>
              <a:rPr lang="vi-VN" dirty="0"/>
              <a:t> TÍCH CỰC</a:t>
            </a:r>
            <a:r>
              <a:rPr dirty="0"/>
              <a:t> (High Engagement + Positive)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019497"/>
              </p:ext>
            </p:extLst>
          </p:nvPr>
        </p:nvGraphicFramePr>
        <p:xfrm>
          <a:off x="1433943" y="1392382"/>
          <a:ext cx="6847611" cy="2036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2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1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0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06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06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09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943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Video ID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Plays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Eng.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Pos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Neg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4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7581690429377187079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41,100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1.24%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4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7581018792151502100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79,100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4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7573623876056419604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28,600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2.48%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4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7551337771059694865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54,800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4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7586980417652182290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dirty="0"/>
                        <a:t>31,400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4.93%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dirty="0"/>
                        <a:t>0.71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433943" y="3996824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Arial"/>
              </a:defRPr>
            </a:pPr>
            <a:r>
              <a:rPr dirty="0"/>
              <a:t>Videos </a:t>
            </a:r>
            <a:r>
              <a:rPr lang="vi-VN" dirty="0"/>
              <a:t>CẦN CHÚ Ý </a:t>
            </a:r>
            <a:r>
              <a:rPr dirty="0"/>
              <a:t>(High Engagement + Negative)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759598"/>
              </p:ext>
            </p:extLst>
          </p:nvPr>
        </p:nvGraphicFramePr>
        <p:xfrm>
          <a:off x="1433946" y="4347557"/>
          <a:ext cx="6847608" cy="1970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2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48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7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0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0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09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8353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Video ID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Plays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Eng.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Pos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Neg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353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7606175475567824136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13,100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5.28%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-1.00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353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7599581460130958609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44,500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-0.50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353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7605242871989685522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31,400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3.02%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-0.33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353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7602204159605099777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20,100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-0.25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353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7576646113000819976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22,600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8.49%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rPr dirty="0"/>
                        <a:t>0.00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Arial"/>
              </a:defRPr>
            </a:pPr>
            <a:r>
              <a:rPr lang="vi-VN" dirty="0"/>
              <a:t>KẾT QUẢ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360563"/>
            <a:ext cx="54864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• Thu thập dữ liệu từ 100 video TikTok của kênh TVU</a:t>
            </a:r>
            <a:br>
              <a:rPr lang="vi-VN" dirty="0"/>
            </a:br>
            <a:r>
              <a:rPr lang="vi-VN" dirty="0"/>
              <a:t>→ Tổng cộng 10.8 triệu lượt xem và khoảng 650 nghìn lượt tương tác</a:t>
            </a:r>
          </a:p>
          <a:p>
            <a:endParaRPr lang="vi-VN" dirty="0"/>
          </a:p>
          <a:p>
            <a:r>
              <a:rPr lang="vi-VN" dirty="0"/>
              <a:t>• Engagement Rate trung bình: 4.16%</a:t>
            </a:r>
            <a:br>
              <a:rPr lang="vi-VN" dirty="0"/>
            </a:br>
            <a:r>
              <a:rPr lang="vi-VN" dirty="0"/>
              <a:t>→ Cao hơn mức trung bình của nhiều kênh TikTok (khoảng 2–3%)</a:t>
            </a:r>
          </a:p>
          <a:p>
            <a:endParaRPr lang="vi-VN" dirty="0"/>
          </a:p>
          <a:p>
            <a:r>
              <a:rPr lang="vi-VN" dirty="0"/>
              <a:t>• Video có hiệu suất tốt nhất đạt</a:t>
            </a:r>
            <a:br>
              <a:rPr lang="vi-VN" dirty="0"/>
            </a:br>
            <a:r>
              <a:rPr lang="vi-VN" dirty="0"/>
              <a:t>→ 2 triệu lượt xem và 122.9K lượt thích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KET LUAN: Kenh TikTok TVU co hieu suat tot (4.16% engagement). Can tang tuong tac comment va xu ly binh luan tieu cuc de cai thien hinh anh.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9401C4-0A22-4F40-B2F9-99191D83D1A5}"/>
              </a:ext>
            </a:extLst>
          </p:cNvPr>
          <p:cNvSpPr txBox="1"/>
          <p:nvPr/>
        </p:nvSpPr>
        <p:spPr>
          <a:xfrm>
            <a:off x="5943600" y="1211959"/>
            <a:ext cx="6099462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dirty="0"/>
              <a:t>Kết quả phân tích sentiment bình luận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 Positive: 42.8%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 Neutral: 38.2%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 Negative: 19.0%</a:t>
            </a:r>
          </a:p>
          <a:p>
            <a:pPr>
              <a:lnSpc>
                <a:spcPct val="150000"/>
              </a:lnSpc>
            </a:pPr>
            <a:r>
              <a:rPr lang="vi-VN" dirty="0"/>
              <a:t>→ Nhìn chung phản hồi của người xem thiên về tích cực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48739" y="2659559"/>
            <a:ext cx="34913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rPr lang="vi-VN" sz="5400" dirty="0"/>
              <a:t>CẢM ƠN</a:t>
            </a:r>
            <a:endParaRPr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152</TotalTime>
  <Words>1036</Words>
  <Application>Microsoft Office PowerPoint</Application>
  <PresentationFormat>Custom</PresentationFormat>
  <Paragraphs>340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ACER</cp:lastModifiedBy>
  <cp:revision>6</cp:revision>
  <dcterms:created xsi:type="dcterms:W3CDTF">2013-01-27T09:14:16Z</dcterms:created>
  <dcterms:modified xsi:type="dcterms:W3CDTF">2026-03-10T05:49:35Z</dcterms:modified>
  <cp:category/>
</cp:coreProperties>
</file>